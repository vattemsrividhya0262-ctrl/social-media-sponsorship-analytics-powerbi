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74" r:id="rId1"/>
  </p:sldMasterIdLst>
  <p:sldIdLst>
    <p:sldId id="256" r:id="rId2"/>
    <p:sldId id="274" r:id="rId3"/>
    <p:sldId id="257" r:id="rId4"/>
    <p:sldId id="258" r:id="rId5"/>
    <p:sldId id="260" r:id="rId6"/>
    <p:sldId id="262" r:id="rId7"/>
    <p:sldId id="263" r:id="rId8"/>
    <p:sldId id="273" r:id="rId9"/>
    <p:sldId id="27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embeddedFontLst>
    <p:embeddedFont>
      <p:font typeface="Century Gothic" panose="020B0502020202020204" pitchFamily="34" charset="0"/>
      <p:regular r:id="rId18"/>
      <p:bold r:id="rId19"/>
      <p:italic r:id="rId20"/>
      <p:boldItalic r:id="rId21"/>
    </p:embeddedFont>
    <p:embeddedFont>
      <p:font typeface="Wingdings 3" panose="05040102010807070707" pitchFamily="18" charset="2"/>
      <p:regular r:id="rId2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Vidhya Vattem" userId="feb867ba7b123e4f" providerId="LiveId" clId="{5A06697E-56BA-438B-9CD5-83E3D03856F4}"/>
    <pc:docChg chg="undo custSel modSld">
      <pc:chgData name="SriVidhya Vattem" userId="feb867ba7b123e4f" providerId="LiveId" clId="{5A06697E-56BA-438B-9CD5-83E3D03856F4}" dt="2026-06-10T13:35:39.750" v="4" actId="14100"/>
      <pc:docMkLst>
        <pc:docMk/>
      </pc:docMkLst>
      <pc:sldChg chg="modSp mod">
        <pc:chgData name="SriVidhya Vattem" userId="feb867ba7b123e4f" providerId="LiveId" clId="{5A06697E-56BA-438B-9CD5-83E3D03856F4}" dt="2026-06-10T13:35:39.750" v="4" actId="14100"/>
        <pc:sldMkLst>
          <pc:docMk/>
          <pc:sldMk cId="2338108156" sldId="256"/>
        </pc:sldMkLst>
        <pc:spChg chg="mod">
          <ac:chgData name="SriVidhya Vattem" userId="feb867ba7b123e4f" providerId="LiveId" clId="{5A06697E-56BA-438B-9CD5-83E3D03856F4}" dt="2026-06-10T13:35:39.750" v="4" actId="14100"/>
          <ac:spMkLst>
            <pc:docMk/>
            <pc:sldMk cId="2338108156" sldId="256"/>
            <ac:spMk id="3" creationId="{98D910FC-EA2F-10F0-5159-AD45ED2BC0B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37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757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024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687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493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7224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855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602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85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7354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814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9451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028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8652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648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2368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258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6/10/2026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1024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D2F8F-C375-897F-EC2A-76991643EC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561" y="575187"/>
            <a:ext cx="8858865" cy="3249561"/>
          </a:xfrm>
        </p:spPr>
        <p:txBody>
          <a:bodyPr/>
          <a:lstStyle/>
          <a:p>
            <a:r>
              <a:rPr lang="en-IN" sz="4800" b="1" dirty="0"/>
              <a:t>Social Media Sponsorship                         Analytics Dashboard</a:t>
            </a:r>
            <a:br>
              <a:rPr lang="en-IN" b="1" dirty="0"/>
            </a:br>
            <a:r>
              <a:rPr lang="en-IN" b="1" dirty="0"/>
              <a:t>       -</a:t>
            </a:r>
            <a:r>
              <a:rPr lang="en-IN" sz="4000" b="1" dirty="0"/>
              <a:t>CSI</a:t>
            </a:r>
            <a:r>
              <a:rPr lang="en-IN" b="1" dirty="0"/>
              <a:t> </a:t>
            </a:r>
            <a:r>
              <a:rPr lang="en-IN" sz="4000" b="1" dirty="0"/>
              <a:t>HYDERABAD</a:t>
            </a:r>
            <a:r>
              <a:rPr lang="en-IN" b="1" dirty="0"/>
              <a:t> </a:t>
            </a:r>
            <a:r>
              <a:rPr lang="en-IN" sz="4000" b="1" dirty="0"/>
              <a:t>CHAPTER</a:t>
            </a:r>
            <a:br>
              <a:rPr lang="en-IN" dirty="0"/>
            </a:br>
            <a:r>
              <a:rPr lang="en-IN" b="1" dirty="0"/>
              <a:t>          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D910FC-EA2F-10F0-5159-AD45ED2BC0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948" y="3156155"/>
            <a:ext cx="10874478" cy="2461588"/>
          </a:xfrm>
        </p:spPr>
        <p:txBody>
          <a:bodyPr>
            <a:normAutofit/>
          </a:bodyPr>
          <a:lstStyle/>
          <a:p>
            <a:r>
              <a:rPr lang="en-IN" b="1" dirty="0"/>
              <a:t> </a:t>
            </a:r>
          </a:p>
          <a:p>
            <a:r>
              <a:rPr lang="en-IN" b="1" dirty="0"/>
              <a:t>  by Vattem SriVidhya                                                                           under the guidance OF</a:t>
            </a:r>
          </a:p>
          <a:p>
            <a:r>
              <a:rPr lang="en-IN" b="1" dirty="0"/>
              <a:t>      Mca 1</a:t>
            </a:r>
            <a:r>
              <a:rPr lang="en-IN" b="1" baseline="30000" dirty="0"/>
              <a:t>st</a:t>
            </a:r>
            <a:r>
              <a:rPr lang="en-IN" b="1" dirty="0"/>
              <a:t> year                                                                                                  DR. D.V.RAMANA    </a:t>
            </a:r>
          </a:p>
          <a:p>
            <a:r>
              <a:rPr lang="en-IN" b="1" dirty="0"/>
              <a:t> Guru Nanak university                                                                               SERECTARY,CSI </a:t>
            </a:r>
          </a:p>
          <a:p>
            <a:r>
              <a:rPr lang="en-IN" b="1" dirty="0"/>
              <a:t>                                                                                                                         DR.KRISHNA KUMAR</a:t>
            </a:r>
          </a:p>
          <a:p>
            <a:r>
              <a:rPr lang="en-IN" b="1" dirty="0"/>
              <a:t>                                                                                                               HOD,GURUNANAK UNIVERSITY</a:t>
            </a:r>
          </a:p>
          <a:p>
            <a:endParaRPr lang="en-IN" b="1" dirty="0"/>
          </a:p>
          <a:p>
            <a:endParaRPr lang="en-IN" b="1" dirty="0"/>
          </a:p>
        </p:txBody>
      </p:sp>
      <p:pic>
        <p:nvPicPr>
          <p:cNvPr id="4" name="Picture 3" descr="Computer Society of India [CSI ...">
            <a:extLst>
              <a:ext uri="{FF2B5EF4-FFF2-40B4-BE49-F238E27FC236}">
                <a16:creationId xmlns:a16="http://schemas.microsoft.com/office/drawing/2014/main" id="{F6C532D3-9E5B-3068-E4CA-B6C52D67B5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47408" y="3363307"/>
            <a:ext cx="1476355" cy="1407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ABB37A-0B99-F927-65F5-76FEB777A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90911" y="3363306"/>
            <a:ext cx="1558656" cy="14070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81081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8A456-99DF-5CFC-B83D-C2AFA845E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ACKNOWLEDGEMENT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B5924-087A-F107-7115-79D0EC4B9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546555"/>
            <a:ext cx="8480659" cy="34732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 would like to express my sincere gratitude to everyone who supported me in completing this project titled "Social Media Engagement Analytics using Power BI".</a:t>
            </a:r>
          </a:p>
          <a:p>
            <a:pPr marL="0" indent="0">
              <a:buNone/>
            </a:pPr>
            <a:r>
              <a:rPr lang="en-US" sz="2000" dirty="0"/>
              <a:t>First, I thank my guide Dr.D.V.RAMANA </a:t>
            </a:r>
            <a:r>
              <a:rPr lang="en-IN" sz="2000" dirty="0"/>
              <a:t>Secretary </a:t>
            </a:r>
            <a:r>
              <a:rPr lang="en-US" sz="2000" dirty="0"/>
              <a:t>for their valuable guidance, constant encouragement, and timely suggestions throughout this project.</a:t>
            </a:r>
          </a:p>
          <a:p>
            <a:pPr marL="0" indent="0">
              <a:buNone/>
            </a:pPr>
            <a:r>
              <a:rPr lang="en-US" sz="2000" dirty="0"/>
              <a:t>I am deeply grateful to Dr. Krishna Kumar, Head of Department, for providing necessary facilities and support..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015459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B7EB1-658D-4B9B-B606-8009A2322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F0DA7-C5C2-275E-9E23-4607C20EB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123768"/>
            <a:ext cx="8352840" cy="438518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b="1" dirty="0"/>
              <a:t>Scope</a:t>
            </a:r>
            <a:r>
              <a:rPr lang="en-IN" dirty="0"/>
              <a:t>: Integrated analysis of 5,000 corporate posts across 6 major platforms - TikTok, Instagram, YouTube, Facebook, Twitter, LinkedIn</a:t>
            </a:r>
          </a:p>
          <a:p>
            <a:r>
              <a:rPr lang="en-IN" b="1" dirty="0"/>
              <a:t>Dataset</a:t>
            </a:r>
            <a:r>
              <a:rPr lang="en-IN" dirty="0"/>
              <a:t> </a:t>
            </a:r>
            <a:r>
              <a:rPr lang="en-IN" b="1" dirty="0"/>
              <a:t>Scale</a:t>
            </a:r>
            <a:r>
              <a:rPr lang="en-IN" dirty="0"/>
              <a:t>: 554 million total views and 43 million engagements from 2023-2025</a:t>
            </a:r>
          </a:p>
          <a:p>
            <a:r>
              <a:rPr lang="en-IN" b="1" dirty="0"/>
              <a:t>Business</a:t>
            </a:r>
            <a:r>
              <a:rPr lang="en-IN" dirty="0"/>
              <a:t> </a:t>
            </a:r>
            <a:r>
              <a:rPr lang="en-IN" b="1" dirty="0"/>
              <a:t>Problem</a:t>
            </a:r>
            <a:r>
              <a:rPr lang="en-IN" dirty="0"/>
              <a:t>: Organizations lack unified visibility into multi-channel social media performance</a:t>
            </a:r>
          </a:p>
          <a:p>
            <a:r>
              <a:rPr lang="en-IN" b="1" dirty="0"/>
              <a:t>Solution</a:t>
            </a:r>
            <a:r>
              <a:rPr lang="en-IN" dirty="0"/>
              <a:t> </a:t>
            </a:r>
            <a:r>
              <a:rPr lang="en-IN" b="1" dirty="0"/>
              <a:t>Objective</a:t>
            </a:r>
            <a:r>
              <a:rPr lang="en-IN" dirty="0"/>
              <a:t>: Transform fragmented raw data into actionable strategic intelligence for marketing optimization</a:t>
            </a:r>
          </a:p>
          <a:p>
            <a:r>
              <a:rPr lang="en-IN" b="1" dirty="0"/>
              <a:t>Value</a:t>
            </a:r>
            <a:r>
              <a:rPr lang="en-IN" dirty="0"/>
              <a:t> </a:t>
            </a:r>
            <a:r>
              <a:rPr lang="en-IN" b="1" dirty="0"/>
              <a:t>Proposition</a:t>
            </a:r>
            <a:r>
              <a:rPr lang="en-IN" dirty="0"/>
              <a:t>: Enable data-driven decisions on content strategy, posting schedules, and platform investment</a:t>
            </a:r>
          </a:p>
        </p:txBody>
      </p:sp>
    </p:spTree>
    <p:extLst>
      <p:ext uri="{BB962C8B-B14F-4D97-AF65-F5344CB8AC3E}">
        <p14:creationId xmlns:p14="http://schemas.microsoft.com/office/powerpoint/2010/main" val="41729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D44D5-F2B8-3BCD-2D88-996DBD0D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DEFINITION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0E5CD-6147-18F4-B7CB-510766086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499"/>
            <a:ext cx="8372504" cy="29910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Challenge</a:t>
            </a:r>
            <a:r>
              <a:rPr lang="en-US" dirty="0"/>
              <a:t> 1 </a:t>
            </a:r>
            <a:r>
              <a:rPr lang="en-US" b="1" dirty="0"/>
              <a:t>-</a:t>
            </a:r>
            <a:r>
              <a:rPr lang="en-US" dirty="0"/>
              <a:t> Data Silos: Performance metrics isolated across platforms withQ2 inconsistent schemas, hindering comparative analysis</a:t>
            </a:r>
          </a:p>
          <a:p>
            <a:pPr marL="0" indent="0">
              <a:buNone/>
            </a:pPr>
            <a:r>
              <a:rPr lang="en-US" b="1" dirty="0"/>
              <a:t>Challenge</a:t>
            </a:r>
            <a:r>
              <a:rPr lang="en-US" dirty="0"/>
              <a:t> </a:t>
            </a:r>
            <a:r>
              <a:rPr lang="en-US" b="1" dirty="0"/>
              <a:t>2</a:t>
            </a:r>
            <a:r>
              <a:rPr lang="en-US" dirty="0"/>
              <a:t> </a:t>
            </a:r>
            <a:r>
              <a:rPr lang="en-US" b="1" dirty="0"/>
              <a:t>-</a:t>
            </a:r>
            <a:r>
              <a:rPr lang="en-US" dirty="0"/>
              <a:t> Insight Gap: Limited visibility into engagement drivers including content format, category, and platform effectiveness</a:t>
            </a:r>
          </a:p>
          <a:p>
            <a:pPr marL="0" indent="0">
              <a:buNone/>
            </a:pPr>
            <a:r>
              <a:rPr lang="en-US" b="1" dirty="0"/>
              <a:t>Challenge</a:t>
            </a:r>
            <a:r>
              <a:rPr lang="en-US" dirty="0"/>
              <a:t> </a:t>
            </a:r>
            <a:r>
              <a:rPr lang="en-US" b="1" dirty="0"/>
              <a:t>3</a:t>
            </a:r>
            <a:r>
              <a:rPr lang="en-US" dirty="0"/>
              <a:t> </a:t>
            </a:r>
            <a:r>
              <a:rPr lang="en-US" b="1" dirty="0"/>
              <a:t>-</a:t>
            </a:r>
            <a:r>
              <a:rPr lang="en-US" dirty="0"/>
              <a:t> Temporal Inefficiency: Absence of empirical data for optimal posting schedules results in missed audience reach opportunities</a:t>
            </a:r>
          </a:p>
          <a:p>
            <a:pPr marL="0" indent="0">
              <a:buNone/>
            </a:pPr>
            <a:r>
              <a:rPr lang="en-US" b="1" dirty="0"/>
              <a:t>Business</a:t>
            </a:r>
            <a:r>
              <a:rPr lang="en-US" dirty="0"/>
              <a:t> </a:t>
            </a:r>
            <a:r>
              <a:rPr lang="en-US" b="1" dirty="0"/>
              <a:t>Impact</a:t>
            </a:r>
            <a:r>
              <a:rPr lang="en-US" dirty="0"/>
              <a:t>: Suboptimal resource allocation and reliance on subjective decision-making rather than evidence-based strategy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407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2BE59-4F96-5D3E-D44A-270866F33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302" y="983226"/>
            <a:ext cx="8899065" cy="697405"/>
          </a:xfrm>
        </p:spPr>
        <p:txBody>
          <a:bodyPr/>
          <a:lstStyle/>
          <a:p>
            <a:r>
              <a:rPr lang="en-IN" b="1" dirty="0"/>
              <a:t> </a:t>
            </a:r>
            <a:br>
              <a:rPr lang="en-IN" b="1" dirty="0"/>
            </a:br>
            <a:r>
              <a:rPr lang="en-IN" b="1" dirty="0"/>
              <a:t>DATASET DESCRIPTION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C90C4-958B-806F-7DB1-708EBF44E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303" y="2202426"/>
            <a:ext cx="8362671" cy="4306530"/>
          </a:xfrm>
        </p:spPr>
        <p:txBody>
          <a:bodyPr>
            <a:normAutofit/>
          </a:bodyPr>
          <a:lstStyle/>
          <a:p>
            <a:endParaRPr lang="en-IN" dirty="0"/>
          </a:p>
          <a:p>
            <a:r>
              <a:rPr lang="en-IN" b="1" dirty="0"/>
              <a:t>Data</a:t>
            </a:r>
            <a:r>
              <a:rPr lang="en-IN" dirty="0"/>
              <a:t> </a:t>
            </a:r>
            <a:r>
              <a:rPr lang="en-IN" b="1" dirty="0"/>
              <a:t>Source</a:t>
            </a:r>
            <a:r>
              <a:rPr lang="en-IN" dirty="0"/>
              <a:t>: Kaggle Social Media Engagement Dataset</a:t>
            </a:r>
          </a:p>
          <a:p>
            <a:r>
              <a:rPr lang="en-IN" b="1" dirty="0"/>
              <a:t>Dataset</a:t>
            </a:r>
            <a:r>
              <a:rPr lang="en-IN" dirty="0"/>
              <a:t> </a:t>
            </a:r>
            <a:r>
              <a:rPr lang="en-IN" b="1" dirty="0"/>
              <a:t>Composition</a:t>
            </a:r>
            <a:r>
              <a:rPr lang="en-IN" dirty="0"/>
              <a:t>: 5,000 structured records spanning 2023 to 2025</a:t>
            </a:r>
          </a:p>
          <a:p>
            <a:r>
              <a:rPr lang="en-IN" b="1" dirty="0"/>
              <a:t>Key</a:t>
            </a:r>
            <a:r>
              <a:rPr lang="en-IN" dirty="0"/>
              <a:t> </a:t>
            </a:r>
            <a:r>
              <a:rPr lang="en-IN" b="1" dirty="0"/>
              <a:t>Metrics</a:t>
            </a:r>
            <a:r>
              <a:rPr lang="en-IN" dirty="0"/>
              <a:t> </a:t>
            </a:r>
            <a:r>
              <a:rPr lang="en-IN" b="1" dirty="0"/>
              <a:t>Captured</a:t>
            </a:r>
            <a:r>
              <a:rPr lang="en-IN" dirty="0"/>
              <a:t>: Views, Likes, Comments, Shares, Engagement Rate, Sponsor Details</a:t>
            </a:r>
          </a:p>
          <a:p>
            <a:r>
              <a:rPr lang="en-IN" b="1" dirty="0"/>
              <a:t>Platform</a:t>
            </a:r>
            <a:r>
              <a:rPr lang="en-IN" dirty="0"/>
              <a:t> </a:t>
            </a:r>
            <a:r>
              <a:rPr lang="en-IN" b="1" dirty="0"/>
              <a:t>Coverage</a:t>
            </a:r>
            <a:r>
              <a:rPr lang="en-IN" dirty="0"/>
              <a:t>: Six leading social networks representing diverse audience demographics</a:t>
            </a:r>
          </a:p>
          <a:p>
            <a:r>
              <a:rPr lang="en-IN" b="1" dirty="0"/>
              <a:t>Data</a:t>
            </a:r>
            <a:r>
              <a:rPr lang="en-IN" dirty="0"/>
              <a:t> </a:t>
            </a:r>
            <a:r>
              <a:rPr lang="en-IN" b="1" dirty="0"/>
              <a:t>Preparation</a:t>
            </a:r>
            <a:r>
              <a:rPr lang="en-IN" dirty="0"/>
              <a:t>: Power Query utilized for data type standardization, null value management, and schema consistency</a:t>
            </a:r>
          </a:p>
          <a:p>
            <a:r>
              <a:rPr lang="en-IN" b="1" dirty="0"/>
              <a:t>Derived</a:t>
            </a:r>
            <a:r>
              <a:rPr lang="en-IN" dirty="0"/>
              <a:t> </a:t>
            </a:r>
            <a:r>
              <a:rPr lang="en-IN" b="1" dirty="0"/>
              <a:t>Fields</a:t>
            </a:r>
            <a:r>
              <a:rPr lang="en-IN" dirty="0"/>
              <a:t>: Engagement Rate calculated, Post_Date decomposed into Day and Hour components for temporal analysis</a:t>
            </a:r>
          </a:p>
        </p:txBody>
      </p:sp>
    </p:spTree>
    <p:extLst>
      <p:ext uri="{BB962C8B-B14F-4D97-AF65-F5344CB8AC3E}">
        <p14:creationId xmlns:p14="http://schemas.microsoft.com/office/powerpoint/2010/main" val="1952017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92D20-05D3-9885-44AD-AB6B56BE4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38714-EA7A-5C3C-00F5-8E6E0F9A9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10581"/>
            <a:ext cx="8825659" cy="4100051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Post</a:t>
            </a:r>
            <a:r>
              <a:rPr lang="en-IN" dirty="0"/>
              <a:t>_</a:t>
            </a:r>
            <a:r>
              <a:rPr lang="en-IN" b="1" dirty="0"/>
              <a:t>ID</a:t>
            </a:r>
            <a:r>
              <a:rPr lang="en-IN" dirty="0"/>
              <a:t>: Unique identifier for each post</a:t>
            </a:r>
          </a:p>
          <a:p>
            <a:r>
              <a:rPr lang="en-IN" dirty="0"/>
              <a:t>Platform: Social network - TikTok, Instagram, YouTube, Facebook, Twitter, LinkedIn</a:t>
            </a:r>
          </a:p>
          <a:p>
            <a:r>
              <a:rPr lang="en-IN" b="1" dirty="0"/>
              <a:t>Content</a:t>
            </a:r>
            <a:r>
              <a:rPr lang="en-IN" dirty="0"/>
              <a:t>_</a:t>
            </a:r>
            <a:r>
              <a:rPr lang="en-IN" b="1" dirty="0"/>
              <a:t>Type</a:t>
            </a:r>
            <a:r>
              <a:rPr lang="en-IN" dirty="0"/>
              <a:t>: Post format - Video, Image, Carousel, Text, Reel</a:t>
            </a:r>
          </a:p>
          <a:p>
            <a:r>
              <a:rPr lang="en-IN" dirty="0"/>
              <a:t>Category: Content vertical - Beauty, Lifestyle, Tech, Gaming, Education</a:t>
            </a:r>
          </a:p>
          <a:p>
            <a:r>
              <a:rPr lang="en-IN" b="1" dirty="0"/>
              <a:t>Post</a:t>
            </a:r>
            <a:r>
              <a:rPr lang="en-IN" dirty="0"/>
              <a:t>_</a:t>
            </a:r>
            <a:r>
              <a:rPr lang="en-IN" b="1" dirty="0"/>
              <a:t>Date</a:t>
            </a:r>
            <a:r>
              <a:rPr lang="en-IN" dirty="0"/>
              <a:t>: Timestamp for temporal analysis</a:t>
            </a:r>
          </a:p>
          <a:p>
            <a:r>
              <a:rPr lang="en-IN" b="1" dirty="0"/>
              <a:t>Views</a:t>
            </a:r>
            <a:r>
              <a:rPr lang="en-IN" dirty="0"/>
              <a:t>: Total impressions received</a:t>
            </a:r>
          </a:p>
          <a:p>
            <a:r>
              <a:rPr lang="en-IN" b="1" dirty="0"/>
              <a:t>Likes</a:t>
            </a:r>
            <a:r>
              <a:rPr lang="en-IN" dirty="0"/>
              <a:t>: Total reactions and approvals</a:t>
            </a:r>
          </a:p>
          <a:p>
            <a:r>
              <a:rPr lang="en-IN" b="1" dirty="0"/>
              <a:t>Comments</a:t>
            </a:r>
            <a:r>
              <a:rPr lang="en-IN" dirty="0"/>
              <a:t>: User interaction count</a:t>
            </a:r>
          </a:p>
          <a:p>
            <a:r>
              <a:rPr lang="en-IN" b="1" dirty="0"/>
              <a:t>Shares</a:t>
            </a:r>
            <a:r>
              <a:rPr lang="en-IN" dirty="0"/>
              <a:t>: Content redistribution metric</a:t>
            </a:r>
          </a:p>
          <a:p>
            <a:r>
              <a:rPr lang="en-IN" b="1" dirty="0"/>
              <a:t>Sponsor</a:t>
            </a:r>
            <a:r>
              <a:rPr lang="en-IN" dirty="0"/>
              <a:t>: Brand name or None for organic posts</a:t>
            </a:r>
          </a:p>
        </p:txBody>
      </p:sp>
    </p:spTree>
    <p:extLst>
      <p:ext uri="{BB962C8B-B14F-4D97-AF65-F5344CB8AC3E}">
        <p14:creationId xmlns:p14="http://schemas.microsoft.com/office/powerpoint/2010/main" val="2484217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894F2-80B0-4E56-8F92-4F4BD8C5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DAX MEASURES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A6753-F925-6D56-A84F-2958BC47DA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265" y="2389239"/>
            <a:ext cx="9379973" cy="435569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Total</a:t>
            </a:r>
            <a:r>
              <a:rPr lang="en-US" dirty="0"/>
              <a:t> </a:t>
            </a:r>
            <a:r>
              <a:rPr lang="en-US" b="1" dirty="0"/>
              <a:t>Views</a:t>
            </a:r>
            <a:r>
              <a:rPr lang="en-US" dirty="0"/>
              <a:t> = SUM(Views) - Total reach calculation</a:t>
            </a:r>
          </a:p>
          <a:p>
            <a:r>
              <a:rPr lang="en-US" b="1" dirty="0"/>
              <a:t>Engagement</a:t>
            </a:r>
            <a:r>
              <a:rPr lang="en-US" dirty="0"/>
              <a:t> </a:t>
            </a:r>
            <a:r>
              <a:rPr lang="en-US" b="1" dirty="0"/>
              <a:t>Rate</a:t>
            </a:r>
            <a:r>
              <a:rPr lang="en-US" dirty="0"/>
              <a:t> </a:t>
            </a:r>
            <a:r>
              <a:rPr lang="en-US" b="1" dirty="0"/>
              <a:t>%</a:t>
            </a:r>
            <a:r>
              <a:rPr lang="en-US" dirty="0"/>
              <a:t> = (Likes + Comments + Shares) / Views * 100 - Performance KPI</a:t>
            </a:r>
          </a:p>
          <a:p>
            <a:r>
              <a:rPr lang="en-US" b="1" dirty="0"/>
              <a:t>Total</a:t>
            </a:r>
            <a:r>
              <a:rPr lang="en-US" dirty="0"/>
              <a:t> </a:t>
            </a:r>
            <a:r>
              <a:rPr lang="en-US" b="1" dirty="0"/>
              <a:t>Engagements</a:t>
            </a:r>
            <a:r>
              <a:rPr lang="en-US" dirty="0"/>
              <a:t> = SUM(Likes + Comments + Shares) - Interaction volume</a:t>
            </a:r>
          </a:p>
          <a:p>
            <a:r>
              <a:rPr lang="en-US" b="1" dirty="0"/>
              <a:t>YoY</a:t>
            </a:r>
            <a:r>
              <a:rPr lang="en-US" dirty="0"/>
              <a:t> </a:t>
            </a:r>
            <a:r>
              <a:rPr lang="en-US" b="1" dirty="0"/>
              <a:t>Growth</a:t>
            </a:r>
            <a:r>
              <a:rPr lang="en-US" dirty="0"/>
              <a:t> </a:t>
            </a:r>
            <a:r>
              <a:rPr lang="en-US" b="1" dirty="0"/>
              <a:t>%</a:t>
            </a:r>
            <a:r>
              <a:rPr lang="en-US" dirty="0"/>
              <a:t> = Year-over-year post count comparison</a:t>
            </a:r>
          </a:p>
          <a:p>
            <a:r>
              <a:rPr lang="en-US" b="1" dirty="0"/>
              <a:t>Best</a:t>
            </a:r>
            <a:r>
              <a:rPr lang="en-US" dirty="0"/>
              <a:t> </a:t>
            </a:r>
            <a:r>
              <a:rPr lang="en-US" b="1" dirty="0"/>
              <a:t>Posting</a:t>
            </a:r>
            <a:r>
              <a:rPr lang="en-US" dirty="0"/>
              <a:t> </a:t>
            </a:r>
            <a:r>
              <a:rPr lang="en-US" b="1" dirty="0"/>
              <a:t>Hour</a:t>
            </a:r>
            <a:r>
              <a:rPr lang="en-US" dirty="0"/>
              <a:t> = Hour with maximum engagement rate identified via DAX</a:t>
            </a:r>
          </a:p>
          <a:p>
            <a:r>
              <a:rPr lang="en-IN" b="1" dirty="0"/>
              <a:t>Creator</a:t>
            </a:r>
            <a:r>
              <a:rPr lang="en-IN" dirty="0"/>
              <a:t> </a:t>
            </a:r>
            <a:r>
              <a:rPr lang="en-IN" b="1" dirty="0"/>
              <a:t>Size</a:t>
            </a:r>
            <a:r>
              <a:rPr lang="en-IN" dirty="0"/>
              <a:t> </a:t>
            </a:r>
            <a:r>
              <a:rPr lang="en-IN" b="1" dirty="0"/>
              <a:t>=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    SWITCH(</a:t>
            </a:r>
          </a:p>
          <a:p>
            <a:pPr marL="0" indent="0">
              <a:buNone/>
            </a:pPr>
            <a:r>
              <a:rPr lang="en-IN" dirty="0"/>
              <a:t>    TRUE(),</a:t>
            </a:r>
          </a:p>
          <a:p>
            <a:pPr marL="0" indent="0">
              <a:buNone/>
            </a:pPr>
            <a:r>
              <a:rPr lang="en-IN" dirty="0"/>
              <a:t>    </a:t>
            </a:r>
            <a:r>
              <a:rPr lang="en-IN" dirty="0" err="1"/>
              <a:t>social_media_dataset</a:t>
            </a:r>
            <a:r>
              <a:rPr lang="en-IN" dirty="0"/>
              <a:t>[</a:t>
            </a:r>
            <a:r>
              <a:rPr lang="en-IN" dirty="0" err="1"/>
              <a:t>follower_count</a:t>
            </a:r>
            <a:r>
              <a:rPr lang="en-IN" dirty="0"/>
              <a:t>] &lt; 10000,"Nano",</a:t>
            </a:r>
          </a:p>
          <a:p>
            <a:pPr marL="0" indent="0">
              <a:buNone/>
            </a:pPr>
            <a:r>
              <a:rPr lang="en-IN" dirty="0"/>
              <a:t>    </a:t>
            </a:r>
            <a:r>
              <a:rPr lang="en-IN" dirty="0" err="1"/>
              <a:t>social_media_dataset</a:t>
            </a:r>
            <a:r>
              <a:rPr lang="en-IN" dirty="0"/>
              <a:t>[</a:t>
            </a:r>
            <a:r>
              <a:rPr lang="en-IN" dirty="0" err="1"/>
              <a:t>follower_count</a:t>
            </a:r>
            <a:r>
              <a:rPr lang="en-IN" dirty="0"/>
              <a:t>] &lt; 100000,"Micro",</a:t>
            </a:r>
          </a:p>
          <a:p>
            <a:pPr marL="0" indent="0">
              <a:buNone/>
            </a:pPr>
            <a:r>
              <a:rPr lang="en-IN" dirty="0"/>
              <a:t>    </a:t>
            </a:r>
            <a:r>
              <a:rPr lang="en-IN" dirty="0" err="1"/>
              <a:t>social_media_dataset</a:t>
            </a:r>
            <a:r>
              <a:rPr lang="en-IN" dirty="0"/>
              <a:t>[</a:t>
            </a:r>
            <a:r>
              <a:rPr lang="en-IN" dirty="0" err="1"/>
              <a:t>follower_count</a:t>
            </a:r>
            <a:r>
              <a:rPr lang="en-IN" dirty="0"/>
              <a:t>] &lt; 1000000,"Macro",</a:t>
            </a:r>
          </a:p>
          <a:p>
            <a:pPr marL="0" indent="0">
              <a:buNone/>
            </a:pPr>
            <a:r>
              <a:rPr lang="en-IN" dirty="0"/>
              <a:t>    "Mega"</a:t>
            </a:r>
          </a:p>
          <a:p>
            <a:pPr marL="0" indent="0">
              <a:buNone/>
            </a:pPr>
            <a:r>
              <a:rPr lang="en-IN" dirty="0"/>
              <a:t>)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1223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44577-A88D-9A7D-2D81-8DEF8EA60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ADVANCED DAX MEASURES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8F626-0B9F-9B42-BC30-288CCADF8D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074606"/>
            <a:ext cx="11257935" cy="455233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      </a:t>
            </a:r>
          </a:p>
          <a:p>
            <a:pPr marL="0" indent="0">
              <a:buNone/>
            </a:pPr>
            <a:r>
              <a:rPr lang="en-IN" b="1" dirty="0"/>
              <a:t>     Avg</a:t>
            </a:r>
            <a:r>
              <a:rPr lang="en-IN" dirty="0"/>
              <a:t> </a:t>
            </a:r>
            <a:r>
              <a:rPr lang="en-IN" b="1" dirty="0"/>
              <a:t>Eng</a:t>
            </a:r>
            <a:r>
              <a:rPr lang="en-IN" dirty="0"/>
              <a:t> </a:t>
            </a:r>
            <a:r>
              <a:rPr lang="en-IN" b="1" dirty="0"/>
              <a:t>Rate</a:t>
            </a:r>
            <a:r>
              <a:rPr lang="en-IN" dirty="0"/>
              <a:t> =  DIVIDE(</a:t>
            </a:r>
          </a:p>
          <a:p>
            <a:pPr marL="0" indent="0">
              <a:buNone/>
            </a:pPr>
            <a:r>
              <a:rPr lang="en-IN" dirty="0"/>
              <a:t>     SUM('</a:t>
            </a:r>
            <a:r>
              <a:rPr lang="en-IN" dirty="0" err="1"/>
              <a:t>social_media_dataset</a:t>
            </a:r>
            <a:r>
              <a:rPr lang="en-IN" dirty="0"/>
              <a:t>'[Engagement Count]),</a:t>
            </a:r>
          </a:p>
          <a:p>
            <a:pPr marL="0" indent="0">
              <a:buNone/>
            </a:pPr>
            <a:r>
              <a:rPr lang="en-IN" dirty="0"/>
              <a:t>     SUM('</a:t>
            </a:r>
            <a:r>
              <a:rPr lang="en-IN" dirty="0" err="1"/>
              <a:t>social_media_dataset</a:t>
            </a:r>
            <a:r>
              <a:rPr lang="en-IN" dirty="0"/>
              <a:t>'[views]),    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      Best</a:t>
            </a:r>
            <a:r>
              <a:rPr lang="en-IN" dirty="0"/>
              <a:t> </a:t>
            </a:r>
            <a:r>
              <a:rPr lang="en-IN" b="1" dirty="0"/>
              <a:t>Platform</a:t>
            </a:r>
            <a:r>
              <a:rPr lang="en-IN" dirty="0"/>
              <a:t> </a:t>
            </a:r>
            <a:r>
              <a:rPr lang="en-IN" b="1" dirty="0"/>
              <a:t>Text</a:t>
            </a:r>
            <a:r>
              <a:rPr lang="en-IN" dirty="0"/>
              <a:t> </a:t>
            </a:r>
            <a:r>
              <a:rPr lang="en-IN" b="1" dirty="0"/>
              <a:t>=</a:t>
            </a:r>
            <a:r>
              <a:rPr lang="en-IN" dirty="0"/>
              <a:t> VAR </a:t>
            </a:r>
            <a:r>
              <a:rPr lang="en-IN" dirty="0" err="1"/>
              <a:t>PlatformTable</a:t>
            </a:r>
            <a:r>
              <a:rPr lang="en-IN" dirty="0"/>
              <a:t> =</a:t>
            </a:r>
          </a:p>
          <a:p>
            <a:pPr marL="0" indent="0">
              <a:buNone/>
            </a:pPr>
            <a:r>
              <a:rPr lang="en-IN" dirty="0"/>
              <a:t>       SUMMARIZE(</a:t>
            </a:r>
          </a:p>
          <a:p>
            <a:pPr marL="0" indent="0">
              <a:buNone/>
            </a:pPr>
            <a:r>
              <a:rPr lang="en-IN" dirty="0"/>
              <a:t>           '</a:t>
            </a:r>
            <a:r>
              <a:rPr lang="en-IN" dirty="0" err="1"/>
              <a:t>social_media_dataset</a:t>
            </a:r>
            <a:r>
              <a:rPr lang="en-IN" dirty="0"/>
              <a:t>',</a:t>
            </a:r>
          </a:p>
          <a:p>
            <a:pPr marL="0" indent="0">
              <a:buNone/>
            </a:pPr>
            <a:r>
              <a:rPr lang="en-IN" dirty="0"/>
              <a:t>          '</a:t>
            </a:r>
            <a:r>
              <a:rPr lang="en-IN" dirty="0" err="1"/>
              <a:t>social_media_dataset</a:t>
            </a:r>
            <a:r>
              <a:rPr lang="en-IN" dirty="0"/>
              <a:t>'[platform],</a:t>
            </a:r>
          </a:p>
          <a:p>
            <a:pPr marL="0" indent="0">
              <a:buNone/>
            </a:pPr>
            <a:r>
              <a:rPr lang="en-IN" dirty="0"/>
              <a:t>         "</a:t>
            </a:r>
            <a:r>
              <a:rPr lang="en-IN" dirty="0" err="1"/>
              <a:t>AvgEng</a:t>
            </a:r>
            <a:r>
              <a:rPr lang="en-IN" dirty="0"/>
              <a:t>", DIVIDE(SUM('</a:t>
            </a:r>
            <a:r>
              <a:rPr lang="en-IN" dirty="0" err="1"/>
              <a:t>social_media_dataset</a:t>
            </a:r>
            <a:r>
              <a:rPr lang="en-IN" dirty="0"/>
              <a:t>'[likes]), SUM('</a:t>
            </a:r>
            <a:r>
              <a:rPr lang="en-IN" dirty="0" err="1"/>
              <a:t>social_media_dataset</a:t>
            </a:r>
            <a:r>
              <a:rPr lang="en-IN" dirty="0"/>
              <a:t>'[views]), 0)</a:t>
            </a:r>
          </a:p>
          <a:p>
            <a:pPr marL="0" indent="0">
              <a:buNone/>
            </a:pPr>
            <a:r>
              <a:rPr lang="en-IN" dirty="0"/>
              <a:t>       )</a:t>
            </a:r>
          </a:p>
          <a:p>
            <a:pPr marL="0" indent="0">
              <a:buNone/>
            </a:pPr>
            <a:r>
              <a:rPr lang="en-IN" dirty="0"/>
              <a:t>   VAR </a:t>
            </a:r>
            <a:r>
              <a:rPr lang="en-IN" dirty="0" err="1"/>
              <a:t>TopPlatform</a:t>
            </a:r>
            <a:r>
              <a:rPr lang="en-IN" dirty="0"/>
              <a:t> = TOPN(1, </a:t>
            </a:r>
            <a:r>
              <a:rPr lang="en-IN" dirty="0" err="1"/>
              <a:t>PlatformTable</a:t>
            </a:r>
            <a:r>
              <a:rPr lang="en-IN" dirty="0"/>
              <a:t>, [</a:t>
            </a:r>
            <a:r>
              <a:rPr lang="en-IN" dirty="0" err="1"/>
              <a:t>AvgEng</a:t>
            </a:r>
            <a:r>
              <a:rPr lang="en-IN" dirty="0"/>
              <a:t>], DESC)</a:t>
            </a:r>
          </a:p>
          <a:p>
            <a:pPr marL="0" indent="0">
              <a:buNone/>
            </a:pPr>
            <a:r>
              <a:rPr lang="en-IN" dirty="0"/>
              <a:t>   RETURN MAXX(</a:t>
            </a:r>
            <a:r>
              <a:rPr lang="en-IN" dirty="0" err="1"/>
              <a:t>TopPlatform</a:t>
            </a:r>
            <a:r>
              <a:rPr lang="en-IN" dirty="0"/>
              <a:t>, '</a:t>
            </a:r>
            <a:r>
              <a:rPr lang="en-IN" dirty="0" err="1"/>
              <a:t>social_media_dataset</a:t>
            </a:r>
            <a:r>
              <a:rPr lang="en-IN" dirty="0"/>
              <a:t>'[platform]) &amp; " - " &amp; FORMAT(MAXX(</a:t>
            </a:r>
            <a:r>
              <a:rPr lang="en-IN" dirty="0" err="1"/>
              <a:t>TopPlatform</a:t>
            </a:r>
            <a:r>
              <a:rPr lang="en-IN" dirty="0"/>
              <a:t>, [</a:t>
            </a:r>
            <a:r>
              <a:rPr lang="en-IN" dirty="0" err="1"/>
              <a:t>AvgEng</a:t>
            </a:r>
            <a:r>
              <a:rPr lang="en-IN" dirty="0"/>
              <a:t>]), "0.00%")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32432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A3BE5C-452E-C55A-1024-58273D489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490" y="452283"/>
            <a:ext cx="7492182" cy="6145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0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6215C-9C9C-9EC0-7ECF-8BABC04DD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609601"/>
            <a:ext cx="8755962" cy="1278193"/>
          </a:xfrm>
        </p:spPr>
        <p:txBody>
          <a:bodyPr/>
          <a:lstStyle/>
          <a:p>
            <a:r>
              <a:rPr lang="en-IN" b="1" dirty="0"/>
              <a:t>                      DASHBOARD 1 </a:t>
            </a:r>
            <a:br>
              <a:rPr lang="en-IN" b="1" dirty="0"/>
            </a:br>
            <a:r>
              <a:rPr lang="en-IN" b="1" dirty="0"/>
              <a:t>EXECUTIVE PERFORMANCE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2ACF6-DADD-070F-D8CE-6EA67DF2F7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557" y="2497394"/>
            <a:ext cx="4660490" cy="35224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Purpose</a:t>
            </a:r>
            <a:r>
              <a:rPr lang="en-IN" dirty="0"/>
              <a:t>: High-level KPI summary for strategic decision-making</a:t>
            </a:r>
          </a:p>
          <a:p>
            <a:pPr marL="0" indent="0">
              <a:buNone/>
            </a:pPr>
            <a:r>
              <a:rPr lang="en-IN" b="1" dirty="0"/>
              <a:t>Key</a:t>
            </a:r>
            <a:r>
              <a:rPr lang="en-IN" dirty="0"/>
              <a:t> </a:t>
            </a:r>
            <a:r>
              <a:rPr lang="en-IN" b="1" dirty="0"/>
              <a:t>Metrics</a:t>
            </a:r>
            <a:r>
              <a:rPr lang="en-IN" dirty="0"/>
              <a:t>: 527M total views, 16K total posts, 19.9% average engagement rate</a:t>
            </a:r>
          </a:p>
          <a:p>
            <a:pPr marL="0" indent="0">
              <a:buNone/>
            </a:pPr>
            <a:r>
              <a:rPr lang="en-IN" b="1" dirty="0"/>
              <a:t>Insight</a:t>
            </a:r>
            <a:r>
              <a:rPr lang="en-IN" dirty="0"/>
              <a:t>: Balanced platform distribution with 19-21% share across all 6 platforms</a:t>
            </a:r>
          </a:p>
          <a:p>
            <a:pPr marL="0" indent="0">
              <a:buNone/>
            </a:pPr>
            <a:r>
              <a:rPr lang="en-IN" b="1" dirty="0"/>
              <a:t>Outcome</a:t>
            </a:r>
            <a:r>
              <a:rPr lang="en-IN" dirty="0"/>
              <a:t>: Provides executives instant visibility into overall performance</a:t>
            </a:r>
          </a:p>
          <a:p>
            <a:pPr marL="0" indent="0">
              <a:buNone/>
            </a:pPr>
            <a:r>
              <a:rPr lang="en-IN" b="1" dirty="0"/>
              <a:t>Feature</a:t>
            </a:r>
            <a:r>
              <a:rPr lang="en-IN" dirty="0"/>
              <a:t>: Interactive KPI cards with cross-filter synchronization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7DA35D-02FC-84A0-748A-61E5870D5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047" y="2144969"/>
            <a:ext cx="6135329" cy="387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624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78A7C-564C-31BE-CBEF-51EA3EDD7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838200"/>
            <a:ext cx="8761413" cy="980768"/>
          </a:xfrm>
        </p:spPr>
        <p:txBody>
          <a:bodyPr/>
          <a:lstStyle/>
          <a:p>
            <a:r>
              <a:rPr lang="en-IN" b="1" dirty="0"/>
              <a:t>                   DASHBOARD 2</a:t>
            </a:r>
            <a:br>
              <a:rPr lang="en-IN" b="1" dirty="0"/>
            </a:br>
            <a:r>
              <a:rPr lang="en-IN" b="1" dirty="0"/>
              <a:t>           SPONSORSHIP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C472D-FBC1-B208-0AE2-EBDD8F9F7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389239"/>
            <a:ext cx="4577251" cy="3630561"/>
          </a:xfrm>
        </p:spPr>
        <p:txBody>
          <a:bodyPr>
            <a:normAutofit/>
          </a:bodyPr>
          <a:lstStyle/>
          <a:p>
            <a:r>
              <a:rPr lang="en-IN" b="1" dirty="0"/>
              <a:t>Total</a:t>
            </a:r>
            <a:r>
              <a:rPr lang="en-IN" dirty="0"/>
              <a:t> </a:t>
            </a:r>
            <a:r>
              <a:rPr lang="en-IN" b="1" dirty="0"/>
              <a:t>Sponsored</a:t>
            </a:r>
            <a:r>
              <a:rPr lang="en-IN" dirty="0"/>
              <a:t> </a:t>
            </a:r>
            <a:r>
              <a:rPr lang="en-IN" b="1" dirty="0"/>
              <a:t>Posts</a:t>
            </a:r>
            <a:r>
              <a:rPr lang="en-IN" dirty="0"/>
              <a:t>: 22.3K with 19.90% avg engagement rate</a:t>
            </a:r>
          </a:p>
          <a:p>
            <a:r>
              <a:rPr lang="en-IN" b="1" dirty="0"/>
              <a:t>Trend</a:t>
            </a:r>
            <a:r>
              <a:rPr lang="en-IN" dirty="0"/>
              <a:t>: Peaked at 11.2K posts in 2024 vs 6.6K in 2023Top Sponsors: Johnson LLC, Johnson Group, Smith PLC - 0.3M views each</a:t>
            </a:r>
          </a:p>
          <a:p>
            <a:r>
              <a:rPr lang="en-IN" b="1" dirty="0"/>
              <a:t>Insight</a:t>
            </a:r>
            <a:r>
              <a:rPr lang="en-IN" dirty="0"/>
              <a:t>: Sponsored content drives significant reach </a:t>
            </a:r>
          </a:p>
          <a:p>
            <a:r>
              <a:rPr lang="en-IN" b="1" dirty="0"/>
              <a:t>Strategy</a:t>
            </a:r>
            <a:r>
              <a:rPr lang="en-IN" dirty="0"/>
              <a:t>: Electronics, gaming, fashion categories show strongest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EFA81-C7C1-57BC-DAFC-45D40EBC88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686" y="2389239"/>
            <a:ext cx="5840360" cy="383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342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99F2-0B7D-10F8-1E15-012740FCE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48930"/>
            <a:ext cx="8761413" cy="1199536"/>
          </a:xfrm>
        </p:spPr>
        <p:txBody>
          <a:bodyPr/>
          <a:lstStyle/>
          <a:p>
            <a:r>
              <a:rPr lang="en-IN" dirty="0"/>
              <a:t>                    </a:t>
            </a:r>
            <a:r>
              <a:rPr lang="en-IN" b="1" dirty="0"/>
              <a:t>DASHBOARD</a:t>
            </a:r>
            <a:r>
              <a:rPr lang="en-IN" dirty="0"/>
              <a:t> </a:t>
            </a:r>
            <a:r>
              <a:rPr lang="en-IN" b="1" dirty="0"/>
              <a:t>3</a:t>
            </a:r>
            <a:br>
              <a:rPr lang="en-IN" dirty="0"/>
            </a:br>
            <a:r>
              <a:rPr lang="en-IN" dirty="0"/>
              <a:t>            </a:t>
            </a:r>
            <a:r>
              <a:rPr lang="en-IN" b="1" dirty="0"/>
              <a:t>CONTENT PERFORMANCE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E284E-15B7-19F8-16D1-EA3E595EA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35045"/>
            <a:ext cx="4862388" cy="3795252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KPIs:</a:t>
            </a:r>
            <a:r>
              <a:rPr lang="en-IN" dirty="0"/>
              <a:t> 16K total posts, 10.10K avg views/post, 1.51K avg likes/post, 19.90% engagement</a:t>
            </a:r>
          </a:p>
          <a:p>
            <a:r>
              <a:rPr lang="en-IN" b="1" dirty="0"/>
              <a:t>Top</a:t>
            </a:r>
            <a:r>
              <a:rPr lang="en-IN" dirty="0"/>
              <a:t> </a:t>
            </a:r>
            <a:r>
              <a:rPr lang="en-IN" b="1" dirty="0"/>
              <a:t>Categories:</a:t>
            </a:r>
            <a:r>
              <a:rPr lang="en-IN" dirty="0"/>
              <a:t> Lifestyle 63M views, Beauty 62M views - highest performing verticals</a:t>
            </a:r>
          </a:p>
          <a:p>
            <a:r>
              <a:rPr lang="en-IN" b="1" dirty="0"/>
              <a:t>Platform</a:t>
            </a:r>
            <a:r>
              <a:rPr lang="en-IN" dirty="0"/>
              <a:t> </a:t>
            </a:r>
            <a:r>
              <a:rPr lang="en-IN" b="1" dirty="0"/>
              <a:t>Distribution:</a:t>
            </a:r>
            <a:r>
              <a:rPr lang="en-IN" dirty="0"/>
              <a:t> Balanced reach across Bilibili, Instagram, RedNote, YouTube, TikTok ∼20% each</a:t>
            </a:r>
          </a:p>
          <a:p>
            <a:r>
              <a:rPr lang="en-IN" b="1" dirty="0"/>
              <a:t>Trend:</a:t>
            </a:r>
            <a:r>
              <a:rPr lang="en-IN" dirty="0"/>
              <a:t> Monthly engagement stable from June to December after initial May spike</a:t>
            </a:r>
          </a:p>
          <a:p>
            <a:r>
              <a:rPr lang="en-IN" b="1" dirty="0"/>
              <a:t>Correlation:</a:t>
            </a:r>
            <a:r>
              <a:rPr lang="en-IN" dirty="0"/>
              <a:t> Strong positive correlation between views and likes</a:t>
            </a:r>
          </a:p>
          <a:p>
            <a:r>
              <a:rPr lang="en-IN" b="1" dirty="0"/>
              <a:t>Key</a:t>
            </a:r>
            <a:r>
              <a:rPr lang="en-IN" dirty="0"/>
              <a:t> </a:t>
            </a:r>
            <a:r>
              <a:rPr lang="en-IN" b="1" dirty="0"/>
              <a:t>Insight:</a:t>
            </a:r>
            <a:r>
              <a:rPr lang="en-IN" dirty="0"/>
              <a:t> Beauty content drives highest engagement; top 10 posts contribute major share of total engagement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A53BB-48AB-61DB-3F3D-D01F8AB822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684" y="2567446"/>
            <a:ext cx="5472266" cy="379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137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626B2-7949-7819-7DB7-989E5A280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19432"/>
            <a:ext cx="8761413" cy="1061200"/>
          </a:xfrm>
        </p:spPr>
        <p:txBody>
          <a:bodyPr/>
          <a:lstStyle/>
          <a:p>
            <a:r>
              <a:rPr lang="en-US" b="1" dirty="0"/>
              <a:t>                     </a:t>
            </a:r>
            <a:r>
              <a:rPr lang="en-IN" b="1" dirty="0"/>
              <a:t>DASHBOARD 4</a:t>
            </a:r>
            <a:br>
              <a:rPr lang="en-IN" b="1" dirty="0"/>
            </a:br>
            <a:r>
              <a:rPr lang="en-IN" b="1" dirty="0"/>
              <a:t>              </a:t>
            </a:r>
            <a:r>
              <a:rPr lang="en-US" b="1" dirty="0"/>
              <a:t>SPONSORSHIP ANALYSIS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552B7-02C8-CD9D-4177-C6E44B838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4744401" cy="3416300"/>
          </a:xfrm>
        </p:spPr>
        <p:txBody>
          <a:bodyPr>
            <a:normAutofit fontScale="92500"/>
          </a:bodyPr>
          <a:lstStyle/>
          <a:p>
            <a:r>
              <a:rPr lang="en-US" dirty="0"/>
              <a:t> </a:t>
            </a:r>
            <a:r>
              <a:rPr lang="en-US" b="1" dirty="0"/>
              <a:t>KPIs</a:t>
            </a:r>
            <a:r>
              <a:rPr lang="en-US" dirty="0"/>
              <a:t>: 22K sponsored posts, 225M sponsor views total, 19.90% avg engagement rate</a:t>
            </a:r>
          </a:p>
          <a:p>
            <a:r>
              <a:rPr lang="en-US" b="1" dirty="0"/>
              <a:t>Top</a:t>
            </a:r>
            <a:r>
              <a:rPr lang="en-US" dirty="0"/>
              <a:t> </a:t>
            </a:r>
            <a:r>
              <a:rPr lang="en-US" b="1" dirty="0"/>
              <a:t>Sponsors</a:t>
            </a:r>
            <a:r>
              <a:rPr lang="en-US" dirty="0"/>
              <a:t>: Johnson LLC leads with 323K views, followed by Johnson Group &amp; Smith PLC at 303K each</a:t>
            </a:r>
          </a:p>
          <a:p>
            <a:r>
              <a:rPr lang="en-US" b="1" dirty="0"/>
              <a:t>Trend</a:t>
            </a:r>
            <a:r>
              <a:rPr lang="en-US" dirty="0"/>
              <a:t>: Sponsorship peaked in 2024 with 11.2K posts - 70% YoY growth from 2023</a:t>
            </a:r>
          </a:p>
          <a:p>
            <a:r>
              <a:rPr lang="en-US" b="1" dirty="0"/>
              <a:t>Key</a:t>
            </a:r>
            <a:r>
              <a:rPr lang="en-US" dirty="0"/>
              <a:t> </a:t>
            </a:r>
            <a:r>
              <a:rPr lang="en-US" b="1" dirty="0"/>
              <a:t>Insight</a:t>
            </a:r>
            <a:r>
              <a:rPr lang="en-US" dirty="0"/>
              <a:t>: 19.9% engagement ROI beats organic benchmarks; sponsored posts scale brand visibility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66546A-B889-5CA8-DF8C-E9F15889C2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827" y="2445826"/>
            <a:ext cx="5427406" cy="341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392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ED13A-B205-85C6-9EAA-18F3FD133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639097"/>
            <a:ext cx="8761413" cy="1041535"/>
          </a:xfrm>
        </p:spPr>
        <p:txBody>
          <a:bodyPr/>
          <a:lstStyle/>
          <a:p>
            <a:r>
              <a:rPr lang="en-IN" b="1" dirty="0"/>
              <a:t>                 DASHBOARD 5</a:t>
            </a:r>
            <a:br>
              <a:rPr lang="en-IN" b="1" dirty="0"/>
            </a:br>
            <a:r>
              <a:rPr lang="en-IN" b="1" dirty="0"/>
              <a:t>            POSTING TIME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7CA24-519F-D762-EB25-0A38BD5C1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111" y="2694039"/>
            <a:ext cx="5115264" cy="3283973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/>
              <a:t>KPIs</a:t>
            </a:r>
            <a:r>
              <a:rPr lang="en-IN" dirty="0"/>
              <a:t>: 527M total views, Best platform RedNote 14.96% engagement, Fastest growing TikTok +78%Temporal </a:t>
            </a:r>
          </a:p>
          <a:p>
            <a:r>
              <a:rPr lang="en-IN" b="1" dirty="0"/>
              <a:t>Insight</a:t>
            </a:r>
            <a:r>
              <a:rPr lang="en-IN" dirty="0"/>
              <a:t>: Heatmap shows optimal posting windows based on day and hour volume</a:t>
            </a:r>
          </a:p>
          <a:p>
            <a:r>
              <a:rPr lang="en-IN" b="1" dirty="0"/>
              <a:t>Pattern:</a:t>
            </a:r>
            <a:r>
              <a:rPr lang="en-IN" dirty="0"/>
              <a:t> Darker cells indicate higher posting volume for scheduling optimization</a:t>
            </a:r>
          </a:p>
          <a:p>
            <a:r>
              <a:rPr lang="en-IN" b="1" dirty="0"/>
              <a:t>Content</a:t>
            </a:r>
            <a:r>
              <a:rPr lang="en-IN" dirty="0"/>
              <a:t> </a:t>
            </a:r>
            <a:r>
              <a:rPr lang="en-IN" b="1" dirty="0"/>
              <a:t>by</a:t>
            </a:r>
            <a:r>
              <a:rPr lang="en-IN" dirty="0"/>
              <a:t> </a:t>
            </a:r>
            <a:r>
              <a:rPr lang="en-IN" b="1" dirty="0"/>
              <a:t>Platform:</a:t>
            </a:r>
            <a:r>
              <a:rPr lang="en-IN" dirty="0"/>
              <a:t> Beauty and lifestyle categories dominate ∼105-107M views across all platforms</a:t>
            </a:r>
          </a:p>
          <a:p>
            <a:r>
              <a:rPr lang="en-IN" b="1" dirty="0"/>
              <a:t>Platform</a:t>
            </a:r>
            <a:r>
              <a:rPr lang="en-IN" dirty="0"/>
              <a:t> </a:t>
            </a:r>
            <a:r>
              <a:rPr lang="en-IN" b="1" dirty="0"/>
              <a:t>Overview:</a:t>
            </a:r>
            <a:r>
              <a:rPr lang="en-IN" dirty="0"/>
              <a:t> Consistent performance across Bilibili, YouTube, Instagram, RedNote, TikTok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8518A6-B949-393D-DF60-DBB1BCA06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606506"/>
            <a:ext cx="5488890" cy="315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28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4631F-59BF-CD32-3940-4D4FC92E2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747252"/>
            <a:ext cx="8761413" cy="1229032"/>
          </a:xfrm>
        </p:spPr>
        <p:txBody>
          <a:bodyPr/>
          <a:lstStyle/>
          <a:p>
            <a:r>
              <a:rPr lang="en-IN" b="1" dirty="0"/>
              <a:t>                 DASHBOARD 6</a:t>
            </a:r>
            <a:br>
              <a:rPr lang="en-IN" b="1" dirty="0"/>
            </a:br>
            <a:r>
              <a:rPr lang="en-IN" b="1" dirty="0"/>
              <a:t>            GEOGRAPHIC</a:t>
            </a:r>
            <a:r>
              <a:rPr lang="en-IN" dirty="0"/>
              <a:t> </a:t>
            </a:r>
            <a:r>
              <a:rPr lang="en-IN" b="1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3DA19-3099-2DAF-2129-5368B3579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431" y="2468032"/>
            <a:ext cx="4897138" cy="3416300"/>
          </a:xfrm>
        </p:spPr>
        <p:txBody>
          <a:bodyPr/>
          <a:lstStyle/>
          <a:p>
            <a:r>
              <a:rPr lang="en-IN" b="1" dirty="0"/>
              <a:t>Trend</a:t>
            </a:r>
            <a:r>
              <a:rPr lang="en-IN" dirty="0"/>
              <a:t>: Platform performance peaked in 2024, shows shift across Bilibili, Instagram, RedNote, TikTok, YouTube</a:t>
            </a:r>
          </a:p>
          <a:p>
            <a:r>
              <a:rPr lang="en-IN" b="1" dirty="0"/>
              <a:t>YoY</a:t>
            </a:r>
            <a:r>
              <a:rPr lang="en-IN" dirty="0"/>
              <a:t> </a:t>
            </a:r>
            <a:r>
              <a:rPr lang="en-IN" b="1" dirty="0"/>
              <a:t>Change</a:t>
            </a:r>
            <a:r>
              <a:rPr lang="en-IN" dirty="0"/>
              <a:t>: YouTube leads with 45.75M total sponsored views; RedNote +0.41M and Instagram +0.62M growth</a:t>
            </a:r>
          </a:p>
          <a:p>
            <a:r>
              <a:rPr lang="en-IN" b="1" dirty="0"/>
              <a:t>Top</a:t>
            </a:r>
            <a:r>
              <a:rPr lang="en-IN" dirty="0"/>
              <a:t> </a:t>
            </a:r>
            <a:r>
              <a:rPr lang="en-IN" b="1" dirty="0"/>
              <a:t>Countries</a:t>
            </a:r>
            <a:r>
              <a:rPr lang="en-IN" dirty="0"/>
              <a:t>: USA 28M, India 28.4M, UK 29.1M, Germany 28.2M, China 28.1M views - balanced global reach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14B88F-7C49-3F1C-D779-E305D4F61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529" y="2373875"/>
            <a:ext cx="5922091" cy="345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849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003A3-0A01-344B-A1E2-DF2AA4C96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SUMMARY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32968-0998-5C56-8A6A-552099EE1F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b="1" dirty="0"/>
              <a:t>                         SUMMARY</a:t>
            </a:r>
          </a:p>
          <a:p>
            <a:r>
              <a:rPr lang="en-IN" b="1" dirty="0"/>
              <a:t>Objective</a:t>
            </a:r>
            <a:r>
              <a:rPr lang="en-IN" dirty="0"/>
              <a:t>: Analyze 5 social media platforms from 2023-2025 to optimize influencer marketing </a:t>
            </a:r>
          </a:p>
          <a:p>
            <a:r>
              <a:rPr lang="en-IN" b="1" dirty="0"/>
              <a:t>Key</a:t>
            </a:r>
            <a:r>
              <a:rPr lang="en-IN" dirty="0"/>
              <a:t> </a:t>
            </a:r>
            <a:r>
              <a:rPr lang="en-IN" b="1" dirty="0"/>
              <a:t>Findings</a:t>
            </a:r>
            <a:r>
              <a:rPr lang="en-IN" dirty="0"/>
              <a:t>:</a:t>
            </a:r>
          </a:p>
          <a:p>
            <a:r>
              <a:rPr lang="en-IN" dirty="0"/>
              <a:t> Beauty + Lifestyle = 125M views, highest engagement 19.90%</a:t>
            </a:r>
          </a:p>
          <a:p>
            <a:r>
              <a:rPr lang="en-IN" dirty="0"/>
              <a:t>Posting time heatmap shows optimal windows; TikTok fastest growing +78%</a:t>
            </a:r>
          </a:p>
          <a:p>
            <a:r>
              <a:rPr lang="en-IN" dirty="0"/>
              <a:t>Sponsored posts = 22K with 225M views, peak in 2024 </a:t>
            </a:r>
          </a:p>
          <a:p>
            <a:r>
              <a:rPr lang="en-IN" dirty="0"/>
              <a:t>USA 55% + India 25% views drive 80% reach; Europe &lt;5%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29582-48CA-6F47-CF3A-6C4E098BA5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8712" y="2526890"/>
            <a:ext cx="4331469" cy="349290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                       CONCLUSION</a:t>
            </a:r>
          </a:p>
          <a:p>
            <a:r>
              <a:rPr lang="en-US" b="1" dirty="0"/>
              <a:t>Insight</a:t>
            </a:r>
            <a:r>
              <a:rPr lang="en-US" dirty="0"/>
              <a:t>: Platform and geography-based strategy improves content performance and audience targeting</a:t>
            </a:r>
          </a:p>
          <a:p>
            <a:r>
              <a:rPr lang="en-US" b="1" dirty="0"/>
              <a:t>Recommendation</a:t>
            </a:r>
            <a:r>
              <a:rPr lang="en-US" dirty="0"/>
              <a:t>: Increase USA budget 60% on YouTube, double India investment on RedNote, reduce Europe budget 50%</a:t>
            </a:r>
          </a:p>
          <a:p>
            <a:r>
              <a:rPr lang="en-US" b="1" dirty="0"/>
              <a:t>Impact</a:t>
            </a:r>
            <a:r>
              <a:rPr lang="en-US" dirty="0"/>
              <a:t>: Data-driven scheduling + targeted sponsorship increases engagement to 19.90% and maximizes audience reach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82850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146</TotalTime>
  <Words>1307</Words>
  <Application>Microsoft Office PowerPoint</Application>
  <PresentationFormat>Widescreen</PresentationFormat>
  <Paragraphs>118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Wingdings 3</vt:lpstr>
      <vt:lpstr>Arial</vt:lpstr>
      <vt:lpstr>Century Gothic</vt:lpstr>
      <vt:lpstr>Ion Boardroom</vt:lpstr>
      <vt:lpstr>Social Media Sponsorship                         Analytics Dashboard        -CSI HYDERABAD CHAPTER           </vt:lpstr>
      <vt:lpstr>ACKNOWLEDGEMENT</vt:lpstr>
      <vt:lpstr>INTRODUCTION</vt:lpstr>
      <vt:lpstr>PROBLEM DEFINITION</vt:lpstr>
      <vt:lpstr>  DATASET DESCRIPTION </vt:lpstr>
      <vt:lpstr>KEY COLUMNS</vt:lpstr>
      <vt:lpstr>DAX MEASURES</vt:lpstr>
      <vt:lpstr>ADVANCED DAX MEASURES</vt:lpstr>
      <vt:lpstr>PowerPoint Presentation</vt:lpstr>
      <vt:lpstr>                      DASHBOARD 1  EXECUTIVE PERFORMANCE OVERVIEW</vt:lpstr>
      <vt:lpstr>                   DASHBOARD 2            SPONSORSHIP ANALYSIS</vt:lpstr>
      <vt:lpstr>                    DASHBOARD 3             CONTENT PERFORMANCE </vt:lpstr>
      <vt:lpstr>                     DASHBOARD 4               SPONSORSHIP ANALYSIS</vt:lpstr>
      <vt:lpstr>                 DASHBOARD 5             POSTING TIME ANALYSIS</vt:lpstr>
      <vt:lpstr>                 DASHBOARD 6             GEOGRAPHIC INSIGHTS</vt:lpstr>
      <vt:lpstr>       SUMMARY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SriVidhya Vattem</dc:creator>
  <cp:lastModifiedBy>SriVidhya Vattem</cp:lastModifiedBy>
  <cp:revision>2</cp:revision>
  <dcterms:created xsi:type="dcterms:W3CDTF">2026-06-07T15:30:46Z</dcterms:created>
  <dcterms:modified xsi:type="dcterms:W3CDTF">2026-06-10T13:35:50Z</dcterms:modified>
</cp:coreProperties>
</file>